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68580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E0A42E"/>
                </a:solidFill>
                <a:latin typeface="Aptos"/>
              </a:rPr>
              <a:t>GEOSPATIAL BUILDING BLOCK |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8046720" cy="1600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From process contract
to comparable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82112"/>
            <a:ext cx="7680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900" b="0">
                <a:solidFill>
                  <a:srgbClr val="CCDAE1"/>
                </a:solidFill>
                <a:latin typeface="Aptos"/>
              </a:rPr>
              <a:t>Kernel architecture, execution lifecycle, and a runnable
Sentinel-2 + DJI harmonization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143000"/>
            <a:ext cx="2331720" cy="1097280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SENTINEL-2
REFERENCE</a:t>
            </a:r>
          </a:p>
        </p:txBody>
      </p:sp>
      <p:sp>
        <p:nvSpPr>
          <p:cNvPr id="7" name="Chevron 6"/>
          <p:cNvSpPr/>
          <p:nvPr/>
        </p:nvSpPr>
        <p:spPr>
          <a:xfrm>
            <a:off x="9784080" y="2514600"/>
            <a:ext cx="411480" cy="502920"/>
          </a:xfrm>
          <a:prstGeom prst="chevron">
            <a:avLst/>
          </a:prstGeom>
          <a:solidFill>
            <a:srgbClr val="E0A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23960" y="3310128"/>
            <a:ext cx="2331720" cy="1097280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DJI
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78638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0">
                <a:solidFill>
                  <a:srgbClr val="9DB3BE"/>
                </a:solidFill>
                <a:latin typeface="Aptos"/>
              </a:rPr>
              <a:t>Revision 2 | 15 September 2026 | Architecture, contracts, execution, and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REUSABLE CAPABILITY WITH OBSERVABLE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What is a Geospatial Building Block?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084831" cy="566928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INPUT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39696"/>
            <a:ext cx="1965960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596A75"/>
                </a:solidFill>
                <a:latin typeface="Aptos"/>
              </a:rPr>
              <a:t>STAC, GeoTIFF, GeoJSON, or a mapped custom profile</a:t>
            </a:r>
          </a:p>
        </p:txBody>
      </p:sp>
      <p:sp>
        <p:nvSpPr>
          <p:cNvPr id="9" name="Chevron 8"/>
          <p:cNvSpPr/>
          <p:nvPr/>
        </p:nvSpPr>
        <p:spPr>
          <a:xfrm>
            <a:off x="2743200" y="1847088"/>
            <a:ext cx="502920" cy="420624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331720" cy="566928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ALGORITHM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139696"/>
            <a:ext cx="2103120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596A75"/>
                </a:solidFill>
                <a:latin typeface="Aptos"/>
              </a:rPr>
              <a:t>Process identity, accepted semantics, parameters, runtime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5312" y="1847088"/>
            <a:ext cx="502920" cy="420624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01968" y="1417320"/>
            <a:ext cx="2084831" cy="566928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TYPED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139696"/>
            <a:ext cx="1847088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596A75"/>
                </a:solidFill>
                <a:latin typeface="Aptos"/>
              </a:rPr>
              <a:t>Declared identity, spatial/temporal scope, media type</a:t>
            </a:r>
          </a:p>
        </p:txBody>
      </p:sp>
      <p:sp>
        <p:nvSpPr>
          <p:cNvPr id="15" name="Chevron 14"/>
          <p:cNvSpPr/>
          <p:nvPr/>
        </p:nvSpPr>
        <p:spPr>
          <a:xfrm>
            <a:off x="8851392" y="1847088"/>
            <a:ext cx="502920" cy="420624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8048" y="1417320"/>
            <a:ext cx="2084831" cy="566928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7776" y="2139696"/>
            <a:ext cx="1847088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596A75"/>
                </a:solidFill>
                <a:latin typeface="Aptos"/>
              </a:rPr>
              <a:t>Execution ID, input/output references, validation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822191"/>
            <a:ext cx="10222992" cy="841248"/>
          </a:xfrm>
          <a:prstGeom prst="roundRect">
            <a:avLst/>
          </a:prstGeom>
          <a:solidFill>
            <a:srgbClr val="D6EFEB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22433"/>
                </a:solidFill>
                <a:latin typeface="Aptos"/>
              </a:rPr>
              <a:t>Metadata are context-dependent. The kernel dynamically creates contracts that bind the relevant data and process context, then harmonizes them through shared semantics, behavior, and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846320"/>
            <a:ext cx="9692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No fixed metadata schema is sufficient for every dynamic workflow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Discoverable through contracts: logical representations of data, processes, and their context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Context-specific metadata remain useful inside the declared contract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Executable and auditable through shared framework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THE KERNEL HAS FOUR COOPERATING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Functional contract and interface bindings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2560320" cy="713232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INTERFACE BINDINGS</a:t>
            </a:r>
          </a:p>
        </p:txBody>
      </p:sp>
      <p:sp>
        <p:nvSpPr>
          <p:cNvPr id="8" name="Chevron 7"/>
          <p:cNvSpPr/>
          <p:nvPr/>
        </p:nvSpPr>
        <p:spPr>
          <a:xfrm>
            <a:off x="3401568" y="1453895"/>
            <a:ext cx="438912" cy="329184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5072" y="1261872"/>
            <a:ext cx="7543800" cy="713232"/>
          </a:xfrm>
          <a:prstGeom prst="roundRect">
            <a:avLst/>
          </a:prstGeom>
          <a:solidFill>
            <a:srgbClr val="DCE9F4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REST | OGC API - Processes | OpenAPI | openEO |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1"/>
            <a:ext cx="2560320" cy="713232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FUNCTIONAL CONTRACT</a:t>
            </a:r>
          </a:p>
        </p:txBody>
      </p:sp>
      <p:sp>
        <p:nvSpPr>
          <p:cNvPr id="11" name="Chevron 10"/>
          <p:cNvSpPr/>
          <p:nvPr/>
        </p:nvSpPr>
        <p:spPr>
          <a:xfrm>
            <a:off x="3401568" y="2642615"/>
            <a:ext cx="438912" cy="329184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05072" y="2450591"/>
            <a:ext cx="7543800" cy="713232"/>
          </a:xfrm>
          <a:prstGeom prst="roundRect">
            <a:avLst/>
          </a:prstGeom>
          <a:solidFill>
            <a:srgbClr val="D6EFEB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Adapt input profile -&gt; validate -&gt; execute -&gt; publish typed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39312"/>
            <a:ext cx="2560320" cy="713232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PROCESS IMPLEMENTATION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3401568" y="3831336"/>
            <a:ext cx="438912" cy="329184"/>
          </a:xfrm>
          <a:prstGeom prst="chevron">
            <a:avLst/>
          </a:prstGeom>
          <a:solidFill>
            <a:srgbClr val="E0A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5072" y="3639312"/>
            <a:ext cx="7543800" cy="713232"/>
          </a:xfrm>
          <a:prstGeom prst="roundRect">
            <a:avLst/>
          </a:prstGeom>
          <a:solidFill>
            <a:srgbClr val="FAEFD3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CWL graph + Python/GDAL/Rasterio/TorchScript + runtime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28032"/>
            <a:ext cx="2560320" cy="713232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SEMANTICS + EVIDENCE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3401568" y="5020056"/>
            <a:ext cx="438912" cy="329184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05072" y="4828032"/>
            <a:ext cx="7543800" cy="713232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Process-Type Register | STAC | quality report | checksums | W3C PROV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089904"/>
            <a:ext cx="9966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22433"/>
                </a:solidFill>
                <a:latin typeface="Aptos"/>
              </a:rPr>
              <a:t>Interface choice can vary per Building Block; the evidence contract remains stable.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EXECUTION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How a request moves through the Building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5" y="1325880"/>
            <a:ext cx="530352" cy="530352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048256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78608"/>
            <a:ext cx="187451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96A75"/>
                </a:solidFill>
                <a:latin typeface="Aptos"/>
              </a:rPr>
              <a:t>Read kernel metadata and process semantics</a:t>
            </a:r>
          </a:p>
        </p:txBody>
      </p:sp>
      <p:sp>
        <p:nvSpPr>
          <p:cNvPr id="10" name="Chevron 9"/>
          <p:cNvSpPr/>
          <p:nvPr/>
        </p:nvSpPr>
        <p:spPr>
          <a:xfrm>
            <a:off x="2304288" y="1444752"/>
            <a:ext cx="329184" cy="310896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1325880"/>
            <a:ext cx="530352" cy="530352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48256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ADAPT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187451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96A75"/>
                </a:solidFill>
                <a:latin typeface="Aptos"/>
              </a:rPr>
              <a:t>Map STAC/raster inputs to the algorithm contract</a:t>
            </a:r>
          </a:p>
        </p:txBody>
      </p:sp>
      <p:sp>
        <p:nvSpPr>
          <p:cNvPr id="14" name="Chevron 13"/>
          <p:cNvSpPr/>
          <p:nvPr/>
        </p:nvSpPr>
        <p:spPr>
          <a:xfrm>
            <a:off x="4663440" y="1444752"/>
            <a:ext cx="329184" cy="310896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0" y="1325880"/>
            <a:ext cx="530352" cy="530352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48256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578608"/>
            <a:ext cx="187451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96A75"/>
                </a:solidFill>
                <a:latin typeface="Aptos"/>
              </a:rPr>
              <a:t>Run CWL locally or submit the job to REANA</a:t>
            </a:r>
          </a:p>
        </p:txBody>
      </p:sp>
      <p:sp>
        <p:nvSpPr>
          <p:cNvPr id="18" name="Chevron 17"/>
          <p:cNvSpPr/>
          <p:nvPr/>
        </p:nvSpPr>
        <p:spPr>
          <a:xfrm>
            <a:off x="7022592" y="1444752"/>
            <a:ext cx="329184" cy="310896"/>
          </a:xfrm>
          <a:prstGeom prst="chevron">
            <a:avLst/>
          </a:prstGeom>
          <a:solidFill>
            <a:srgbClr val="E0A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19872" y="1325880"/>
            <a:ext cx="530352" cy="530352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048256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578608"/>
            <a:ext cx="187451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96A75"/>
                </a:solidFill>
                <a:latin typeface="Aptos"/>
              </a:rPr>
              <a:t>Apply grid, quality, and policy acceptance gates</a:t>
            </a:r>
          </a:p>
        </p:txBody>
      </p:sp>
      <p:sp>
        <p:nvSpPr>
          <p:cNvPr id="22" name="Chevron 21"/>
          <p:cNvSpPr/>
          <p:nvPr/>
        </p:nvSpPr>
        <p:spPr>
          <a:xfrm>
            <a:off x="9381744" y="1444752"/>
            <a:ext cx="329184" cy="310896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9024" y="1325880"/>
            <a:ext cx="530352" cy="530352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2048256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578608"/>
            <a:ext cx="1874519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96A75"/>
                </a:solidFill>
                <a:latin typeface="Aptos"/>
              </a:rPr>
              <a:t>Return typed assets, STAC metadata, and provenance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681728"/>
            <a:ext cx="10332720" cy="841248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22433"/>
                </a:solidFill>
                <a:latin typeface="Aptos"/>
              </a:rPr>
              <a:t>Failure is also a typed result: invalid inputs or failed thresholds stop publication and preserve diagnostic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IMAGERY HARMONIZATION BUILDING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Example: two workflows, one shared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1417320" cy="749808"/>
          </a:xfrm>
          <a:prstGeom prst="roundRect">
            <a:avLst/>
          </a:prstGeom>
          <a:solidFill>
            <a:srgbClr val="DCE9F4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A35"/>
                </a:solidFill>
                <a:latin typeface="Aptos"/>
              </a:rPr>
              <a:t>Sentinel-2
L2A RGB</a:t>
            </a:r>
          </a:p>
        </p:txBody>
      </p:sp>
      <p:sp>
        <p:nvSpPr>
          <p:cNvPr id="8" name="Chevron 7"/>
          <p:cNvSpPr/>
          <p:nvPr/>
        </p:nvSpPr>
        <p:spPr>
          <a:xfrm>
            <a:off x="1920240" y="171907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5728" y="1508760"/>
            <a:ext cx="1572768" cy="749808"/>
          </a:xfrm>
          <a:prstGeom prst="roundRect">
            <a:avLst/>
          </a:prstGeom>
          <a:solidFill>
            <a:srgbClr val="DCE9F4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C2A35"/>
                </a:solidFill>
                <a:latin typeface="Aptos"/>
              </a:rPr>
              <a:t>Co-register +
reproject</a:t>
            </a:r>
          </a:p>
        </p:txBody>
      </p:sp>
      <p:sp>
        <p:nvSpPr>
          <p:cNvPr id="10" name="Chevron 9"/>
          <p:cNvSpPr/>
          <p:nvPr/>
        </p:nvSpPr>
        <p:spPr>
          <a:xfrm>
            <a:off x="4069080" y="171907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1508760"/>
            <a:ext cx="1664208" cy="749808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4x AI super-
resolution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309360" y="171907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84848" y="1508760"/>
            <a:ext cx="1828800" cy="749808"/>
          </a:xfrm>
          <a:prstGeom prst="roundRect">
            <a:avLst/>
          </a:prstGeom>
          <a:solidFill>
            <a:srgbClr val="D6EFEB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C2A35"/>
                </a:solidFill>
                <a:latin typeface="Aptos"/>
              </a:rPr>
              <a:t>Reference image
+ histogram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03320"/>
            <a:ext cx="1417320" cy="749808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C2A35"/>
                </a:solidFill>
                <a:latin typeface="Aptos"/>
              </a:rPr>
              <a:t>DJI frames +
poses + DSM</a:t>
            </a:r>
          </a:p>
        </p:txBody>
      </p:sp>
      <p:sp>
        <p:nvSpPr>
          <p:cNvPr id="15" name="Chevron 14"/>
          <p:cNvSpPr/>
          <p:nvPr/>
        </p:nvSpPr>
        <p:spPr>
          <a:xfrm>
            <a:off x="1920240" y="391363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5728" y="3703320"/>
            <a:ext cx="1572768" cy="749808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C2A35"/>
                </a:solidFill>
                <a:latin typeface="Aptos"/>
              </a:rPr>
              <a:t>Photogrammetric
orthomosaic</a:t>
            </a:r>
          </a:p>
        </p:txBody>
      </p:sp>
      <p:sp>
        <p:nvSpPr>
          <p:cNvPr id="17" name="Chevron 16"/>
          <p:cNvSpPr/>
          <p:nvPr/>
        </p:nvSpPr>
        <p:spPr>
          <a:xfrm>
            <a:off x="4069080" y="391363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4568" y="3703320"/>
            <a:ext cx="1664208" cy="749808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Area
downsampling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6309360" y="3913632"/>
            <a:ext cx="384048" cy="320040"/>
          </a:xfrm>
          <a:prstGeom prst="chevron">
            <a:avLst/>
          </a:prstGeom>
          <a:solidFill>
            <a:srgbClr val="59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84848" y="3703320"/>
            <a:ext cx="1828800" cy="749808"/>
          </a:xfrm>
          <a:prstGeom prst="roundRect">
            <a:avLst/>
          </a:prstGeom>
          <a:solidFill>
            <a:srgbClr val="FAEFD3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C2A35"/>
                </a:solidFill>
                <a:latin typeface="Aptos"/>
              </a:rPr>
              <a:t>Masked histogram
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377440"/>
            <a:ext cx="2487168" cy="1234440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COMMON GRID + QUALITY GATE</a:t>
            </a:r>
          </a:p>
        </p:txBody>
      </p:sp>
      <p:sp>
        <p:nvSpPr>
          <p:cNvPr id="22" name="Chevron 21"/>
          <p:cNvSpPr/>
          <p:nvPr/>
        </p:nvSpPr>
        <p:spPr>
          <a:xfrm>
            <a:off x="8668512" y="2423160"/>
            <a:ext cx="411480" cy="320040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668512" y="3429000"/>
            <a:ext cx="411480" cy="320040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166360"/>
            <a:ext cx="62179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122433"/>
                </a:solidFill>
                <a:latin typeface="Aptos"/>
              </a:rPr>
              <a:t>COGs | STAC Items | W3C PROV | QC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EXECUTABLE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Workflow 1: Sentinel-2 establishes the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53312"/>
            <a:ext cx="512064" cy="512064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65960"/>
            <a:ext cx="19659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433"/>
                </a:solidFill>
                <a:latin typeface="Aptos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95728"/>
            <a:ext cx="1993392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96A75"/>
                </a:solidFill>
                <a:latin typeface="Aptos"/>
              </a:rPr>
              <a:t>L2A level, RGB bands, cloud and nodata masks</a:t>
            </a:r>
          </a:p>
        </p:txBody>
      </p:sp>
      <p:sp>
        <p:nvSpPr>
          <p:cNvPr id="10" name="Chevron 9"/>
          <p:cNvSpPr/>
          <p:nvPr/>
        </p:nvSpPr>
        <p:spPr>
          <a:xfrm>
            <a:off x="2432304" y="1444752"/>
            <a:ext cx="274320" cy="292608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9776" y="1353312"/>
            <a:ext cx="512064" cy="512064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1965960"/>
            <a:ext cx="19659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433"/>
                </a:solidFill>
                <a:latin typeface="Aptos"/>
              </a:rPr>
              <a:t>Align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95728"/>
            <a:ext cx="1993392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96A75"/>
                </a:solidFill>
                <a:latin typeface="Aptos"/>
              </a:rPr>
              <a:t>Reproject and co-register to AOI and target CRS</a:t>
            </a:r>
          </a:p>
        </p:txBody>
      </p:sp>
      <p:sp>
        <p:nvSpPr>
          <p:cNvPr id="14" name="Chevron 13"/>
          <p:cNvSpPr/>
          <p:nvPr/>
        </p:nvSpPr>
        <p:spPr>
          <a:xfrm>
            <a:off x="4773168" y="1444752"/>
            <a:ext cx="274320" cy="292608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353312"/>
            <a:ext cx="512064" cy="512064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19659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433"/>
                </a:solidFill>
                <a:latin typeface="Aptos"/>
              </a:rPr>
              <a:t>Enhance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95728"/>
            <a:ext cx="1993392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96A75"/>
                </a:solidFill>
                <a:latin typeface="Aptos"/>
              </a:rPr>
              <a:t>TorchScript 4x inference or labelled bicubic demo</a:t>
            </a:r>
          </a:p>
        </p:txBody>
      </p:sp>
      <p:sp>
        <p:nvSpPr>
          <p:cNvPr id="18" name="Chevron 17"/>
          <p:cNvSpPr/>
          <p:nvPr/>
        </p:nvSpPr>
        <p:spPr>
          <a:xfrm>
            <a:off x="7114031" y="1444752"/>
            <a:ext cx="274320" cy="292608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61504" y="1353312"/>
            <a:ext cx="512064" cy="512064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965960"/>
            <a:ext cx="19659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433"/>
                </a:solidFill>
                <a:latin typeface="Aptos"/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395728"/>
            <a:ext cx="1993392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96A75"/>
                </a:solidFill>
                <a:latin typeface="Aptos"/>
              </a:rPr>
              <a:t>256-bin masked histograms and robust quantiles</a:t>
            </a:r>
          </a:p>
        </p:txBody>
      </p:sp>
      <p:sp>
        <p:nvSpPr>
          <p:cNvPr id="22" name="Chevron 21"/>
          <p:cNvSpPr/>
          <p:nvPr/>
        </p:nvSpPr>
        <p:spPr>
          <a:xfrm>
            <a:off x="9454896" y="1444752"/>
            <a:ext cx="274320" cy="292608"/>
          </a:xfrm>
          <a:prstGeom prst="chevron">
            <a:avLst/>
          </a:prstGeom>
          <a:solidFill>
            <a:srgbClr val="2D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02368" y="1353312"/>
            <a:ext cx="512064" cy="512064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1965960"/>
            <a:ext cx="19659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22433"/>
                </a:solidFill>
                <a:latin typeface="Aptos"/>
              </a:rPr>
              <a:t>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395728"/>
            <a:ext cx="1993392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96A75"/>
                </a:solidFill>
                <a:latin typeface="Aptos"/>
              </a:rPr>
              <a:t>COG, target grid, QC, STAC, and provenance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950208"/>
            <a:ext cx="5074920" cy="658368"/>
          </a:xfrm>
          <a:prstGeom prst="roundRect">
            <a:avLst/>
          </a:prstGeom>
          <a:solidFill>
            <a:srgbClr val="FAEFD3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Interpretation product, not new optical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767328"/>
            <a:ext cx="5440680" cy="1691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Preserve the original 10 m source link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Validate tensor shape, scale, target resolution, and model checksum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Apply cloud/nodata masks during inference and histogram sampling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PHOTOGRAMMETRY HANDOFF + EXECUTABLE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Workflow 2: DJI conforms to the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1920240" cy="475488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RAW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237744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Images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Calibration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RTK/PPK or poses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DEM/DSM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Optional GCPs</a:t>
            </a:r>
          </a:p>
        </p:txBody>
      </p:sp>
      <p:sp>
        <p:nvSpPr>
          <p:cNvPr id="9" name="Chevron 8"/>
          <p:cNvSpPr/>
          <p:nvPr/>
        </p:nvSpPr>
        <p:spPr>
          <a:xfrm>
            <a:off x="2907792" y="2743200"/>
            <a:ext cx="530352" cy="420624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325880"/>
            <a:ext cx="2057400" cy="475488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PHOTOGRAMMETRY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3" y="1901952"/>
            <a:ext cx="242316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Camera model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Tie points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Dense surface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Orthomosaic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Checkpoint RMSE</a:t>
            </a:r>
          </a:p>
        </p:txBody>
      </p:sp>
      <p:sp>
        <p:nvSpPr>
          <p:cNvPr id="12" name="Chevron 11"/>
          <p:cNvSpPr/>
          <p:nvPr/>
        </p:nvSpPr>
        <p:spPr>
          <a:xfrm>
            <a:off x="6153912" y="2743200"/>
            <a:ext cx="530352" cy="420624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03720" y="1325880"/>
            <a:ext cx="2057400" cy="475488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HARMONIZATION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4" y="1901952"/>
            <a:ext cx="2423160" cy="2423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Exact target grid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Area/average kernel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Antialiasing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Quantile matching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Mask preservation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2600" y="2743200"/>
            <a:ext cx="530352" cy="420624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76688" y="2331720"/>
            <a:ext cx="1572768" cy="1170432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COMPARABLE
DJI COG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047488"/>
            <a:ext cx="8275320" cy="658368"/>
          </a:xfrm>
          <a:prstGeom prst="roundRect">
            <a:avLst/>
          </a:prstGeom>
          <a:solidFill>
            <a:srgbClr val="D6EFEB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22433"/>
                </a:solidFill>
                <a:latin typeface="Aptos"/>
              </a:rPr>
              <a:t>Why no AI downsampler? Area aggregation is deterministic, spectrally traceable, and easier to validate.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WHAT MAKES THE OUTPUTS 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The handoff is a machine-readable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5285232" cy="530352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SPATIAL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5074920" cy="2606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Same CRS and affine transform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Same width, height, extent, and 2.5 m grid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Same RGB band order, dtype, range, and nodata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Separate cloud, shadow, saturation, and validity 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25880"/>
            <a:ext cx="5285232" cy="530352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RADIOMETRIC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5074920" cy="2606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Reference profile uses valid common overlap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Per-band clipped quantile mapping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Before/after histogram distances retained</a:t>
            </a:r>
          </a:p>
          <a:p>
            <a:pPr>
              <a:spcAft>
                <a:spcPts val="1000"/>
              </a:spcAft>
              <a:defRPr sz="1600">
                <a:solidFill>
                  <a:srgbClr val="1C2A35"/>
                </a:solidFill>
                <a:latin typeface="Aptos"/>
              </a:defRPr>
            </a:pPr>
            <a:r>
              <a:t>• Time, sun angle, and view geometry remain explicit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5074920"/>
            <a:ext cx="10040112" cy="713232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22433"/>
                </a:solidFill>
                <a:latin typeface="Aptos"/>
              </a:rPr>
              <a:t>Histogram similarity supports interpretation; it does not erase seasonal, atmospheric, or sensor differences.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EXAMPLE ACCEPTANCE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Quality gate: comparability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429000" cy="475488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PIXEL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Exact equality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417320"/>
            <a:ext cx="3429000" cy="475488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REGISTRATION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0574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&lt; 1 target pixel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5" y="1417320"/>
            <a:ext cx="3429000" cy="475488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COMMON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0574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&gt;= 10,000 pixels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3429000" cy="475488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HISTOGRAM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JS &lt;= 0.10 / band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3474720"/>
            <a:ext cx="3429000" cy="475488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41148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&lt;= 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3474720"/>
            <a:ext cx="3429000" cy="475488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CLOUD + SHADOW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4114800"/>
            <a:ext cx="34290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122433"/>
                </a:solidFill>
                <a:latin typeface="Aptos"/>
              </a:rPr>
              <a:t>&lt;=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60720"/>
            <a:ext cx="8275320" cy="329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23D34"/>
                </a:solidFill>
                <a:latin typeface="Aptos"/>
              </a:rPr>
              <a:t>Thresholds are deployment parameters, not universal accuracy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EVIDENCE ACCOMPANIES EVERY DERIVED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What the execution produces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2487168" cy="502920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057400"/>
            <a:ext cx="2487168" cy="1298448"/>
          </a:xfrm>
          <a:prstGeom prst="roundRect">
            <a:avLst/>
          </a:prstGeom>
          <a:solidFill>
            <a:srgbClr val="DCE9F4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Cloud Optimized GeoTIFF
Exact target grid + overviews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89888"/>
            <a:ext cx="2487168" cy="502920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57400"/>
            <a:ext cx="2487168" cy="1298448"/>
          </a:xfrm>
          <a:prstGeom prst="roundRect">
            <a:avLst/>
          </a:prstGeom>
          <a:solidFill>
            <a:srgbClr val="D6EFEB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STAC Item
Geometry + projection + asset checksum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89888"/>
            <a:ext cx="2487168" cy="502920"/>
          </a:xfrm>
          <a:prstGeom prst="roundRect">
            <a:avLst/>
          </a:prstGeom>
          <a:solidFill>
            <a:srgbClr val="E0A42E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057400"/>
            <a:ext cx="2487168" cy="1298448"/>
          </a:xfrm>
          <a:prstGeom prst="roundRect">
            <a:avLst/>
          </a:prstGeom>
          <a:solidFill>
            <a:srgbClr val="FAEFD3"/>
          </a:solidFill>
          <a:ln w="15240">
            <a:solidFill>
              <a:srgbClr val="E0A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Pixel overlap + RMSE
JS distance + clipping + masks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1389888"/>
            <a:ext cx="2487168" cy="502920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4" y="2057400"/>
            <a:ext cx="2487168" cy="1298448"/>
          </a:xfrm>
          <a:prstGeom prst="roundRect">
            <a:avLst/>
          </a:prstGeom>
          <a:solidFill>
            <a:srgbClr val="FAE2DC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22433"/>
                </a:solidFill>
                <a:latin typeface="Aptos"/>
              </a:rPr>
              <a:t>Input/output SHA-256
Method + model identity + run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1938528" cy="530352"/>
          </a:xfrm>
          <a:prstGeom prst="roundRect">
            <a:avLst/>
          </a:prstGeom>
          <a:solidFill>
            <a:srgbClr val="122433"/>
          </a:solidFill>
          <a:ln w="15240">
            <a:solidFill>
              <a:srgbClr val="12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Fixture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3986784"/>
            <a:ext cx="1417320" cy="475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2D68A0"/>
                </a:solidFill>
                <a:latin typeface="Aptos"/>
              </a:rPr>
              <a:t>65,536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489704"/>
            <a:ext cx="162763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96A75"/>
                </a:solidFill>
                <a:latin typeface="Aptos"/>
              </a:rPr>
              <a:t>overlap 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986784"/>
            <a:ext cx="2148840" cy="475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007A74"/>
                </a:solidFill>
                <a:latin typeface="Aptos"/>
              </a:rPr>
              <a:t>0.138 -&gt; 0.0043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489704"/>
            <a:ext cx="199339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96A75"/>
                </a:solidFill>
                <a:latin typeface="Aptos"/>
              </a:rPr>
              <a:t>worst-band JS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986784"/>
            <a:ext cx="1188720" cy="475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E0A42E"/>
                </a:solidFill>
                <a:latin typeface="Aptos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4489704"/>
            <a:ext cx="11887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96A75"/>
                </a:solidFill>
                <a:latin typeface="Aptos"/>
              </a:rPr>
              <a:t>clipping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986784"/>
            <a:ext cx="1481328" cy="475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338458"/>
                </a:solidFill>
                <a:latin typeface="Aptos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489704"/>
            <a:ext cx="14813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96A75"/>
                </a:solidFill>
                <a:latin typeface="Aptos"/>
              </a:rPr>
              <a:t>all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23D34"/>
                </a:solidFill>
                <a:latin typeface="Aptos"/>
              </a:rPr>
              <a:t>A deliberately tightened JS threshold returns exit code 2 and a machine-readable failed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CWL LOCALLY; REANA PACKAGING SUPPLIED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How it executes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3337560" cy="530352"/>
          </a:xfrm>
          <a:prstGeom prst="roundRect">
            <a:avLst/>
          </a:prstGeom>
          <a:solidFill>
            <a:srgbClr val="2D68A0"/>
          </a:solidFill>
          <a:ln w="15240"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1. RUN SENTINEL-2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39112"/>
            <a:ext cx="3154680" cy="7498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Produces target_grid.json and
reference_histogram.json</a:t>
            </a:r>
          </a:p>
        </p:txBody>
      </p:sp>
      <p:sp>
        <p:nvSpPr>
          <p:cNvPr id="9" name="Chevron 8"/>
          <p:cNvSpPr/>
          <p:nvPr/>
        </p:nvSpPr>
        <p:spPr>
          <a:xfrm>
            <a:off x="4160520" y="1920240"/>
            <a:ext cx="566928" cy="438912"/>
          </a:xfrm>
          <a:prstGeom prst="chevron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65192" y="1353312"/>
            <a:ext cx="3337560" cy="530352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2. TRANSFER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2039112"/>
            <a:ext cx="3154680" cy="7498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122433"/>
                </a:solidFill>
                <a:latin typeface="Aptos"/>
              </a:rPr>
              <a:t>Checksum and upload to the
second REANA run</a:t>
            </a:r>
          </a:p>
        </p:txBody>
      </p:sp>
      <p:sp>
        <p:nvSpPr>
          <p:cNvPr id="12" name="Chevron 11"/>
          <p:cNvSpPr/>
          <p:nvPr/>
        </p:nvSpPr>
        <p:spPr>
          <a:xfrm>
            <a:off x="8549640" y="1920240"/>
            <a:ext cx="566928" cy="438912"/>
          </a:xfrm>
          <a:prstGeom prst="chevron">
            <a:avLst/>
          </a:prstGeom>
          <a:solidFill>
            <a:srgbClr val="DD5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54312" y="1353312"/>
            <a:ext cx="2267712" cy="530352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3. RUN DJI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039112"/>
            <a:ext cx="2176272" cy="7498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122433"/>
                </a:solidFill>
                <a:latin typeface="Aptos"/>
              </a:rPr>
              <a:t>Produces matched COG
and QC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30752"/>
            <a:ext cx="2121408" cy="502920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07408"/>
            <a:ext cx="3246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cwltool executes now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run_demo.py chains both runs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CWL stages scripts explicitly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Failure gates return nonzero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3730752"/>
            <a:ext cx="2121408" cy="502920"/>
          </a:xfrm>
          <a:prstGeom prst="roundRect">
            <a:avLst/>
          </a:prstGeom>
          <a:solidFill>
            <a:srgbClr val="007A74"/>
          </a:solidFill>
          <a:ln w="1524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407408"/>
            <a:ext cx="3246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Two descriptors supplied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Reference assets transfer between runs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Worker image must include dependencies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Runtime logs augment provenance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3730752"/>
            <a:ext cx="2121408" cy="502920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API FACADE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407408"/>
            <a:ext cx="30632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Kernel metadata is registered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Existing facade proves job pattern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Harmonization endpoints remain next</a:t>
            </a:r>
          </a:p>
          <a:p>
            <a:pPr>
              <a:spcAft>
                <a:spcPts val="1000"/>
              </a:spcAft>
              <a:defRPr sz="1400">
                <a:solidFill>
                  <a:srgbClr val="1C2A35"/>
                </a:solidFill>
                <a:latin typeface="Aptos"/>
              </a:defRPr>
            </a:pPr>
            <a:r>
              <a:t>• Bindings are target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971032"/>
            <a:ext cx="99212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23D34"/>
                </a:solidFill>
                <a:latin typeface="Aptos"/>
              </a:rPr>
              <a:t>Current API boundary: direct CWL execution works; dedicated harmonization facade endpoints are not yet implemented.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A74"/>
                </a:solidFill>
                <a:latin typeface="Aptos"/>
              </a:rPr>
              <a:t>WHAT EXISTS AND 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06424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22433"/>
                </a:solidFill>
                <a:latin typeface="Aptos"/>
              </a:rPr>
              <a:t>Executable package and production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96696"/>
            <a:ext cx="11155680" cy="32004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0">
                <a:solidFill>
                  <a:srgbClr val="596A75"/>
                </a:solidFill>
                <a:latin typeface="Aptos"/>
              </a:rPr>
              <a:t>Geospatial Building Block | Sentinel-2 +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0">
                <a:solidFill>
                  <a:srgbClr val="596A75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321808" cy="530352"/>
          </a:xfrm>
          <a:prstGeom prst="roundRect">
            <a:avLst/>
          </a:prstGeom>
          <a:solidFill>
            <a:srgbClr val="338458"/>
          </a:solidFill>
          <a:ln w="15240">
            <a:solidFill>
              <a:srgbClr val="33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RUN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93392"/>
            <a:ext cx="5029200" cy="3063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workflows/imagery_harmonization/run_demo.py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sentinel2-workflow.cwl + dji-workflow.cwl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Rasterio COG/grid/histogram processing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TorchScript interface and model provenance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Positive and failure acceptance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80160"/>
            <a:ext cx="5321808" cy="530352"/>
          </a:xfrm>
          <a:prstGeom prst="roundRect">
            <a:avLst/>
          </a:prstGeom>
          <a:solidFill>
            <a:srgbClr val="DD5943"/>
          </a:solidFill>
          <a:ln w="15240">
            <a:solidFill>
              <a:srgbClr val="DD5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PRODUCTION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5029200" cy="3063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Validated Sentinel-2 model + completed model card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ODM/WebODM orthomosaic and checkpoint report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Tiled model inference for large scenes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Published REANA worker image</a:t>
            </a:r>
          </a:p>
          <a:p>
            <a:pPr>
              <a:spcAft>
                <a:spcPts val="1000"/>
              </a:spcAft>
              <a:defRPr sz="1500">
                <a:solidFill>
                  <a:srgbClr val="1C2A35"/>
                </a:solidFill>
                <a:latin typeface="Aptos"/>
              </a:defRPr>
            </a:pPr>
            <a:r>
              <a:t>• Facade process endpoints and field calibration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5559552"/>
            <a:ext cx="8412480" cy="566928"/>
          </a:xfrm>
          <a:prstGeom prst="roundRect">
            <a:avLst/>
          </a:prstGeom>
          <a:solidFill>
            <a:srgbClr val="122433"/>
          </a:solidFill>
          <a:ln w="15240">
            <a:solidFill>
              <a:srgbClr val="12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python3 workflows/imagery_harmonization/run_demo.py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